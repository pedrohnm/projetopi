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65" r:id="rId5"/>
    <p:sldId id="258" r:id="rId6"/>
    <p:sldId id="267" r:id="rId7"/>
    <p:sldId id="268" r:id="rId8"/>
    <p:sldId id="269" r:id="rId9"/>
    <p:sldId id="263" r:id="rId10"/>
    <p:sldId id="260" r:id="rId11"/>
    <p:sldId id="261" r:id="rId12"/>
    <p:sldId id="266" r:id="rId13"/>
    <p:sldId id="270" r:id="rId14"/>
    <p:sldId id="272" r:id="rId15"/>
    <p:sldId id="271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09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1645C7-C85B-4550-BC24-ED5B505A4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E066E6A-67FD-4A7B-A356-731BDF0BE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9FB839-A1BD-4205-BCF3-ECE02DE65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847AC-09AF-4CFD-8E40-FAA36121D9F2}" type="datetimeFigureOut">
              <a:rPr lang="pt-BR" smtClean="0"/>
              <a:t>11/03/2021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33D57D-0407-40E3-98C2-4BA00C13C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CDDE25-BFD2-4863-BBC8-3A224EB0E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D014-A767-4A66-98CB-E1457D01B2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8958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E7BD2F-C5D9-4179-A255-5CA19597A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6FC2D1-7626-429E-87E4-2528593FE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537297-29E2-4707-A3A5-D43E5E7A0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847AC-09AF-4CFD-8E40-FAA36121D9F2}" type="datetimeFigureOut">
              <a:rPr lang="pt-BR" smtClean="0"/>
              <a:t>11/03/2021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B6FD8D-AB8A-40D9-B340-D783AC3CA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3769EA-3230-4C21-BFC9-CFA123603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D014-A767-4A66-98CB-E1457D01B2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886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4B2245-156A-4797-BA02-503A73628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2A570D-1B89-4DF8-83AB-04BAB0F85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25BC71-10B3-481B-8093-DBCB28C8E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847AC-09AF-4CFD-8E40-FAA36121D9F2}" type="datetimeFigureOut">
              <a:rPr lang="pt-BR" smtClean="0"/>
              <a:t>11/03/2021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C8DFA0-9400-46C2-8C8A-BC00C5867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047C13-10D3-44DE-8566-92E249B21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D014-A767-4A66-98CB-E1457D01B2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6326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4722DA-7CF9-41F1-A6D5-6F5B2720B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C13539-7852-4A66-9A6B-375D9FACB8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9E8C6C2-83BD-4865-95AD-C9F51DFE5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730306F-026F-4BE5-8439-048490258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847AC-09AF-4CFD-8E40-FAA36121D9F2}" type="datetimeFigureOut">
              <a:rPr lang="pt-BR" smtClean="0"/>
              <a:t>11/03/2021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B788B7-313C-42FD-9E22-1C21E9947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5DB704B-154F-479A-B3D9-C72E7F57F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D014-A767-4A66-98CB-E1457D01B2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3043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3951D1-643E-4EC0-8297-475A0B8C0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12954C-1D30-42BA-9D64-3E6D0B44D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030F3E2-F997-4998-82C5-282514172A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187D23A-0039-4292-829A-946FCEF44D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7AABCB0-E18E-4C32-84E5-DF27DE9CDD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D81AFBE-FBFE-401B-8F98-8E482BD13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847AC-09AF-4CFD-8E40-FAA36121D9F2}" type="datetimeFigureOut">
              <a:rPr lang="pt-BR" smtClean="0"/>
              <a:t>11/03/2021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8E2C228-89E2-4DC5-85E3-95D47A314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59F950A-5D68-42E6-990E-DFC74B5F7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D014-A767-4A66-98CB-E1457D01B2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7015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D5FD6B-30CE-49F6-94A0-14C027292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8891840-2322-4599-9AE5-CC8FDE7D9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847AC-09AF-4CFD-8E40-FAA36121D9F2}" type="datetimeFigureOut">
              <a:rPr lang="pt-BR" smtClean="0"/>
              <a:t>11/03/2021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02E9F99-0970-4187-A410-2AEC9E5FC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205AB97-76F6-47E5-B583-7DE3745B9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D014-A767-4A66-98CB-E1457D01B2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5019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2EB9963-F3FE-49DE-A36B-2601F887A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847AC-09AF-4CFD-8E40-FAA36121D9F2}" type="datetimeFigureOut">
              <a:rPr lang="pt-BR" smtClean="0"/>
              <a:t>11/03/2021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83FE5E0-4247-4100-9492-FEB55F462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F0001DD-B3FE-4722-8E00-17437907B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D014-A767-4A66-98CB-E1457D01B2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8563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4E5D75-A2E6-47A3-823A-BE6AAC2E7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6B0013-5AB2-4B8D-A569-42FCE12F1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7A99BB3-5475-45CC-98E4-64E20C91C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55EF1E-AE72-4D09-89B0-7F967744C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847AC-09AF-4CFD-8E40-FAA36121D9F2}" type="datetimeFigureOut">
              <a:rPr lang="pt-BR" smtClean="0"/>
              <a:t>11/03/2021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6585D1C-749E-4A4F-A9ED-F56299ED6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630903-8331-493E-9F8D-E8D6C3BBE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D014-A767-4A66-98CB-E1457D01B2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4989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F6C8-CA91-4066-8D78-2DD20F3B3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ACA8171-3930-490F-BAE8-45534FE27F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119A54F-46DA-4A7C-A26D-8DF1777CC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CBC5EC5-4CB3-4287-8D32-DB0420AD3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847AC-09AF-4CFD-8E40-FAA36121D9F2}" type="datetimeFigureOut">
              <a:rPr lang="pt-BR" smtClean="0"/>
              <a:t>11/03/2021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DA3EC6-90D3-4E88-965B-DD51EB344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5D43A0-91D4-4B3D-A1DF-F4F0FE8B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D014-A767-4A66-98CB-E1457D01B2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8717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085FDB-1904-4629-9F60-EC0556C1A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41BB549-B606-41FF-A695-2AB55A18F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BB18A5-0D48-4AD8-AF54-F1346CE82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847AC-09AF-4CFD-8E40-FAA36121D9F2}" type="datetimeFigureOut">
              <a:rPr lang="pt-BR" smtClean="0"/>
              <a:t>11/03/2021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D4A8D6-DA49-485F-883E-D2BBF9AF6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FB6A93-F860-47A0-BA13-886134D59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D014-A767-4A66-98CB-E1457D01B2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4108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2E0FF97-CFE4-433C-9BF7-5F3460D4DE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A9ABA82-2ECD-4452-94DF-24CF58C2B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5AEA3E-41B9-4580-8CF9-5A5BFE60D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847AC-09AF-4CFD-8E40-FAA36121D9F2}" type="datetimeFigureOut">
              <a:rPr lang="pt-BR" smtClean="0"/>
              <a:t>11/03/2021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00558F-E808-4F0C-ADFF-8BFF9BDA6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39B6B6-3688-42B6-A63F-F3B66C405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DD014-A767-4A66-98CB-E1457D01B2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1530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C0E1FEF-84DF-4A6D-B096-D24EDF7F6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70EBEA-E776-48E5-9AA9-DD4974272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36589F-A346-4548-9ECE-C102BF5A58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847AC-09AF-4CFD-8E40-FAA36121D9F2}" type="datetimeFigureOut">
              <a:rPr lang="pt-BR" smtClean="0"/>
              <a:t>11/03/2021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FE3F92-29BB-40A1-BFB0-EE9229B4E8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BCC9F9-5CDC-4370-AE0D-8FBC2B3495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DD014-A767-4A66-98CB-E1457D01B2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9518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xd.adobe.com/view/87b91974-01bd-4ed8-882a-53417d46ab2b-d2ea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ntendo Forma&#10;&#10;Descrição gerada automaticamente">
            <a:extLst>
              <a:ext uri="{FF2B5EF4-FFF2-40B4-BE49-F238E27FC236}">
                <a16:creationId xmlns:a16="http://schemas.microsoft.com/office/drawing/2014/main" id="{B8BD79FA-89E6-4A33-80FB-ADC478B72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82D7658-C0CB-4419-8B67-A2ECDF9C89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4800" dirty="0">
                <a:solidFill>
                  <a:srgbClr val="51099D"/>
                </a:solidFill>
                <a:latin typeface="MOON GET!" panose="02000903000000000000" pitchFamily="50" charset="0"/>
              </a:rPr>
              <a:t>PESQUISA E INOVAÇÃO</a:t>
            </a: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795F2C44-2AB8-4B73-8142-2517143E5ECA}"/>
              </a:ext>
            </a:extLst>
          </p:cNvPr>
          <p:cNvSpPr txBox="1">
            <a:spLocks/>
          </p:cNvSpPr>
          <p:nvPr/>
        </p:nvSpPr>
        <p:spPr>
          <a:xfrm>
            <a:off x="1524000" y="5851469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spc="-150" dirty="0">
                <a:solidFill>
                  <a:srgbClr val="51099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SÃO PAULO - SP</a:t>
            </a:r>
          </a:p>
        </p:txBody>
      </p:sp>
      <p:pic>
        <p:nvPicPr>
          <p:cNvPr id="4" name="Imagem 3" descr="Logotipo, nome da empresa&#10;&#10;Descrição gerada automaticamente">
            <a:extLst>
              <a:ext uri="{FF2B5EF4-FFF2-40B4-BE49-F238E27FC236}">
                <a16:creationId xmlns:a16="http://schemas.microsoft.com/office/drawing/2014/main" id="{C6AE3745-8D1A-496F-AEB9-C33120188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3638" y="304826"/>
            <a:ext cx="1944723" cy="125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871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ntendo Forma&#10;&#10;Descrição gerada automaticamente">
            <a:extLst>
              <a:ext uri="{FF2B5EF4-FFF2-40B4-BE49-F238E27FC236}">
                <a16:creationId xmlns:a16="http://schemas.microsoft.com/office/drawing/2014/main" id="{B8BD79FA-89E6-4A33-80FB-ADC478B72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82D7658-C0CB-4419-8B67-A2ECDF9C89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4400" dirty="0">
                <a:solidFill>
                  <a:srgbClr val="51099D"/>
                </a:solidFill>
                <a:latin typeface="MOON GET!" panose="02000903000000000000" pitchFamily="50" charset="0"/>
              </a:rPr>
              <a:t>INTEGRANTES</a:t>
            </a:r>
          </a:p>
        </p:txBody>
      </p:sp>
      <p:pic>
        <p:nvPicPr>
          <p:cNvPr id="4" name="Imagem 3" descr="Diagrama&#10;&#10;Descrição gerada automaticamente">
            <a:extLst>
              <a:ext uri="{FF2B5EF4-FFF2-40B4-BE49-F238E27FC236}">
                <a16:creationId xmlns:a16="http://schemas.microsoft.com/office/drawing/2014/main" id="{0D5FB4A7-E919-4828-8940-EEFE697211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720" y="2590483"/>
            <a:ext cx="5303520" cy="298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37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ntendo Forma&#10;&#10;Descrição gerada automaticamente">
            <a:extLst>
              <a:ext uri="{FF2B5EF4-FFF2-40B4-BE49-F238E27FC236}">
                <a16:creationId xmlns:a16="http://schemas.microsoft.com/office/drawing/2014/main" id="{B8BD79FA-89E6-4A33-80FB-ADC478B72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82D7658-C0CB-4419-8B67-A2ECDF9C8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685820" y="188386"/>
            <a:ext cx="9144000" cy="605769"/>
          </a:xfrm>
        </p:spPr>
        <p:txBody>
          <a:bodyPr>
            <a:normAutofit/>
          </a:bodyPr>
          <a:lstStyle/>
          <a:p>
            <a:r>
              <a:rPr lang="pt-BR" sz="2800" dirty="0">
                <a:solidFill>
                  <a:srgbClr val="51099D"/>
                </a:solidFill>
                <a:latin typeface="MOON GET!" panose="02000903000000000000" pitchFamily="50" charset="0"/>
              </a:rPr>
              <a:t>INTEGRANTES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5A4EF9-3D67-49BD-B3C4-4F853CB370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499" y="891230"/>
            <a:ext cx="11640430" cy="2858233"/>
          </a:xfrm>
        </p:spPr>
        <p:txBody>
          <a:bodyPr>
            <a:normAutofit/>
          </a:bodyPr>
          <a:lstStyle/>
          <a:p>
            <a:pPr algn="l"/>
            <a:r>
              <a:rPr lang="pt-BR" sz="1800" dirty="0">
                <a:solidFill>
                  <a:srgbClr val="51099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</p:txBody>
      </p:sp>
      <p:pic>
        <p:nvPicPr>
          <p:cNvPr id="5" name="Imagem 4" descr="Pessoa posando para foto em local escuro&#10;&#10;Descrição gerada automaticamente">
            <a:extLst>
              <a:ext uri="{FF2B5EF4-FFF2-40B4-BE49-F238E27FC236}">
                <a16:creationId xmlns:a16="http://schemas.microsoft.com/office/drawing/2014/main" id="{2569F717-A57C-49F8-B5E3-86546935DA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7218" y="412827"/>
            <a:ext cx="4735323" cy="473532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BAF3A3E-ACD3-44FC-B78D-0826340C75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924" y="2740378"/>
            <a:ext cx="4734477" cy="4734477"/>
          </a:xfrm>
          <a:prstGeom prst="rect">
            <a:avLst/>
          </a:prstGeom>
        </p:spPr>
      </p:pic>
      <p:pic>
        <p:nvPicPr>
          <p:cNvPr id="15" name="Imagem 14" descr="Cd com letras e números em fundo preto&#10;&#10;Descrição gerada automaticamente com confiança média">
            <a:extLst>
              <a:ext uri="{FF2B5EF4-FFF2-40B4-BE49-F238E27FC236}">
                <a16:creationId xmlns:a16="http://schemas.microsoft.com/office/drawing/2014/main" id="{CB84F1EA-AC6F-4A72-AAC0-239E7EFB04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2360" y="413673"/>
            <a:ext cx="4734477" cy="4734477"/>
          </a:xfrm>
          <a:prstGeom prst="rect">
            <a:avLst/>
          </a:prstGeom>
        </p:spPr>
      </p:pic>
      <p:pic>
        <p:nvPicPr>
          <p:cNvPr id="17" name="Imagem 16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B6414909-FABC-4A45-B633-1C2CBF40CB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502" y="2740378"/>
            <a:ext cx="4734477" cy="4734477"/>
          </a:xfrm>
          <a:prstGeom prst="rect">
            <a:avLst/>
          </a:prstGeom>
        </p:spPr>
      </p:pic>
      <p:pic>
        <p:nvPicPr>
          <p:cNvPr id="7" name="Imagem 6" descr="Uma imagem contendo segurando, roxo, mulher, homem&#10;&#10;Descrição gerada automaticamente">
            <a:extLst>
              <a:ext uri="{FF2B5EF4-FFF2-40B4-BE49-F238E27FC236}">
                <a16:creationId xmlns:a16="http://schemas.microsoft.com/office/drawing/2014/main" id="{A8A6DAD0-B452-416F-B334-503E36DD62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1938" y="413673"/>
            <a:ext cx="4734477" cy="473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378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ntendo Forma&#10;&#10;Descrição gerada automaticamente">
            <a:extLst>
              <a:ext uri="{FF2B5EF4-FFF2-40B4-BE49-F238E27FC236}">
                <a16:creationId xmlns:a16="http://schemas.microsoft.com/office/drawing/2014/main" id="{B8BD79FA-89E6-4A33-80FB-ADC478B72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82D7658-C0CB-4419-8B67-A2ECDF9C8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5680" y="1349004"/>
            <a:ext cx="9144000" cy="2387600"/>
          </a:xfrm>
        </p:spPr>
        <p:txBody>
          <a:bodyPr>
            <a:normAutofit/>
          </a:bodyPr>
          <a:lstStyle/>
          <a:p>
            <a:r>
              <a:rPr lang="pt-BR" sz="4800" dirty="0">
                <a:solidFill>
                  <a:srgbClr val="51099D"/>
                </a:solidFill>
                <a:latin typeface="MOON GET!" panose="02000903000000000000" pitchFamily="50" charset="0"/>
              </a:rPr>
              <a:t>CONTEXTO</a:t>
            </a:r>
          </a:p>
        </p:txBody>
      </p:sp>
      <p:pic>
        <p:nvPicPr>
          <p:cNvPr id="23" name="Imagem 22" descr="Forma, Quadrado&#10;&#10;Descrição gerada automaticamente">
            <a:extLst>
              <a:ext uri="{FF2B5EF4-FFF2-40B4-BE49-F238E27FC236}">
                <a16:creationId xmlns:a16="http://schemas.microsoft.com/office/drawing/2014/main" id="{FE788AAB-5DCA-48B3-A866-3D3AAFDC6D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185" y="2658645"/>
            <a:ext cx="778602" cy="1115902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ED61495E-41D8-4CB3-AB5F-401D439F7B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859469" y="2201039"/>
            <a:ext cx="748923" cy="1494977"/>
          </a:xfrm>
          <a:prstGeom prst="rect">
            <a:avLst/>
          </a:prstGeom>
        </p:spPr>
      </p:pic>
      <p:pic>
        <p:nvPicPr>
          <p:cNvPr id="26" name="Imagem 25" descr="Forma, Quadrado&#10;&#10;Descrição gerada automaticamente">
            <a:extLst>
              <a:ext uri="{FF2B5EF4-FFF2-40B4-BE49-F238E27FC236}">
                <a16:creationId xmlns:a16="http://schemas.microsoft.com/office/drawing/2014/main" id="{D42206C9-9F30-4B75-AFA7-5976E3C88D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4309" y="2658645"/>
            <a:ext cx="778602" cy="111590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CAF72856-060C-4E21-8C0C-CC8A10556B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60914" y="2201039"/>
            <a:ext cx="748923" cy="1494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528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ntendo Forma&#10;&#10;Descrição gerada automaticamente">
            <a:extLst>
              <a:ext uri="{FF2B5EF4-FFF2-40B4-BE49-F238E27FC236}">
                <a16:creationId xmlns:a16="http://schemas.microsoft.com/office/drawing/2014/main" id="{B8BD79FA-89E6-4A33-80FB-ADC478B72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82D7658-C0CB-4419-8B67-A2ECDF9C8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956" y="253069"/>
            <a:ext cx="9144000" cy="605769"/>
          </a:xfrm>
        </p:spPr>
        <p:txBody>
          <a:bodyPr>
            <a:normAutofit/>
          </a:bodyPr>
          <a:lstStyle/>
          <a:p>
            <a:pPr algn="l"/>
            <a:r>
              <a:rPr lang="pt-BR" sz="2800" dirty="0">
                <a:solidFill>
                  <a:srgbClr val="51099D"/>
                </a:solidFill>
                <a:latin typeface="MOON GET!" panose="02000903000000000000" pitchFamily="50" charset="0"/>
              </a:rPr>
              <a:t>CONTEXTO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5A4EF9-3D67-49BD-B3C4-4F853CB370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956" y="1478702"/>
            <a:ext cx="10742743" cy="4759434"/>
          </a:xfrm>
        </p:spPr>
        <p:txBody>
          <a:bodyPr/>
          <a:lstStyle/>
          <a:p>
            <a:pPr algn="l"/>
            <a:r>
              <a:rPr lang="pt-BR" sz="2000" b="1" dirty="0">
                <a:solidFill>
                  <a:srgbClr val="51099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SEGMENTO: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pt-BR" b="1" dirty="0">
                <a:solidFill>
                  <a:srgbClr val="51099D"/>
                </a:solidFill>
                <a:latin typeface="Abadi Extra Light" panose="020B0604020202020204" pitchFamily="34" charset="0"/>
              </a:rPr>
              <a:t>Setor varejista de carne bovina congelada</a:t>
            </a:r>
          </a:p>
          <a:p>
            <a:pPr lvl="1" algn="l"/>
            <a:endParaRPr lang="pt-BR" b="1" dirty="0">
              <a:solidFill>
                <a:srgbClr val="51099D"/>
              </a:solidFill>
              <a:latin typeface="Abadi Extra Light" panose="020B0604020202020204" pitchFamily="34" charset="0"/>
            </a:endParaRPr>
          </a:p>
          <a:p>
            <a:pPr algn="l"/>
            <a:r>
              <a:rPr lang="pt-BR" sz="2000" b="1" dirty="0">
                <a:solidFill>
                  <a:srgbClr val="51099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CLIENTE: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pt-BR" b="1" dirty="0">
                <a:solidFill>
                  <a:srgbClr val="51099D"/>
                </a:solidFill>
                <a:latin typeface="Abadi Extra Light" panose="020B0604020202020204" pitchFamily="34" charset="0"/>
              </a:rPr>
              <a:t>Empresas produtoras de cortes bovinos que disponibilizam seus produtos em estabelecimentos varejistas terceiros</a:t>
            </a:r>
          </a:p>
          <a:p>
            <a:pPr lvl="1" algn="l"/>
            <a:endParaRPr lang="pt-BR" b="1" dirty="0">
              <a:solidFill>
                <a:srgbClr val="51099D"/>
              </a:solidFill>
              <a:latin typeface="Abadi Extra Light" panose="020B0604020202020204" pitchFamily="34" charset="0"/>
            </a:endParaRPr>
          </a:p>
          <a:p>
            <a:pPr algn="l"/>
            <a:r>
              <a:rPr lang="pt-BR" sz="2000" b="1" dirty="0">
                <a:solidFill>
                  <a:srgbClr val="51099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OBJETIVO: 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pt-BR" b="1" dirty="0">
                <a:solidFill>
                  <a:srgbClr val="51099D"/>
                </a:solidFill>
                <a:latin typeface="Abadi Extra Light" panose="020B0604020202020204" pitchFamily="34" charset="0"/>
              </a:rPr>
              <a:t>Desenvolver um sistema de controle de temperatura em tempo real através da aplicação de sensores nos freezers utilizados para armazenar e disponibilizar cortes de carne bovina congelada, de modo a prolongar sua validade e garantir a qualidade dos produtos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b="1" dirty="0">
              <a:solidFill>
                <a:srgbClr val="51099D"/>
              </a:solidFill>
              <a:latin typeface="Abadi Extra Light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3278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ntendo Forma&#10;&#10;Descrição gerada automaticamente">
            <a:extLst>
              <a:ext uri="{FF2B5EF4-FFF2-40B4-BE49-F238E27FC236}">
                <a16:creationId xmlns:a16="http://schemas.microsoft.com/office/drawing/2014/main" id="{B8BD79FA-89E6-4A33-80FB-ADC478B72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82D7658-C0CB-4419-8B67-A2ECDF9C8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956" y="253069"/>
            <a:ext cx="9144000" cy="605769"/>
          </a:xfrm>
        </p:spPr>
        <p:txBody>
          <a:bodyPr>
            <a:normAutofit/>
          </a:bodyPr>
          <a:lstStyle/>
          <a:p>
            <a:pPr algn="l"/>
            <a:r>
              <a:rPr lang="pt-BR" sz="2800" dirty="0">
                <a:solidFill>
                  <a:srgbClr val="51099D"/>
                </a:solidFill>
                <a:latin typeface="MOON GET!" panose="02000903000000000000" pitchFamily="50" charset="0"/>
              </a:rPr>
              <a:t>CONTEXTO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5A4EF9-3D67-49BD-B3C4-4F853CB370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956" y="1243399"/>
            <a:ext cx="10742743" cy="4759434"/>
          </a:xfrm>
        </p:spPr>
        <p:txBody>
          <a:bodyPr/>
          <a:lstStyle/>
          <a:p>
            <a:pPr algn="l"/>
            <a:r>
              <a:rPr lang="pt-BR" sz="2000" b="1" dirty="0">
                <a:solidFill>
                  <a:srgbClr val="51099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JUSTIFICATIVA: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pt-BR" b="1" dirty="0">
                <a:solidFill>
                  <a:srgbClr val="51099D"/>
                </a:solidFill>
                <a:latin typeface="Abadi Extra Light" panose="020B0604020202020204" pitchFamily="34" charset="0"/>
              </a:rPr>
              <a:t>Os cortes bovinos estão entre os produtos com maior perda no setor varejista. Conforme pesquisa realizada pela ABRAS (Associação Brasileira de Supermercados) em 2020, temos:</a:t>
            </a:r>
          </a:p>
        </p:txBody>
      </p:sp>
      <p:pic>
        <p:nvPicPr>
          <p:cNvPr id="5" name="Imagem 4" descr="Tabela&#10;&#10;Descrição gerada automaticamente">
            <a:extLst>
              <a:ext uri="{FF2B5EF4-FFF2-40B4-BE49-F238E27FC236}">
                <a16:creationId xmlns:a16="http://schemas.microsoft.com/office/drawing/2014/main" id="{6BB8C172-ED1A-463B-9E53-E92999C4F9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9794" y="2727825"/>
            <a:ext cx="8452411" cy="327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070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ntendo Forma&#10;&#10;Descrição gerada automaticamente">
            <a:extLst>
              <a:ext uri="{FF2B5EF4-FFF2-40B4-BE49-F238E27FC236}">
                <a16:creationId xmlns:a16="http://schemas.microsoft.com/office/drawing/2014/main" id="{B8BD79FA-89E6-4A33-80FB-ADC478B72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82D7658-C0CB-4419-8B67-A2ECDF9C8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956" y="253069"/>
            <a:ext cx="9144000" cy="605769"/>
          </a:xfrm>
        </p:spPr>
        <p:txBody>
          <a:bodyPr>
            <a:normAutofit/>
          </a:bodyPr>
          <a:lstStyle/>
          <a:p>
            <a:pPr algn="l"/>
            <a:r>
              <a:rPr lang="pt-BR" sz="2800" dirty="0">
                <a:solidFill>
                  <a:srgbClr val="51099D"/>
                </a:solidFill>
                <a:latin typeface="MOON GET!" panose="02000903000000000000" pitchFamily="50" charset="0"/>
              </a:rPr>
              <a:t>CONTEXTO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5A4EF9-3D67-49BD-B3C4-4F853CB370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956" y="1006434"/>
            <a:ext cx="10742743" cy="4759434"/>
          </a:xfrm>
        </p:spPr>
        <p:txBody>
          <a:bodyPr/>
          <a:lstStyle/>
          <a:p>
            <a:pPr algn="l"/>
            <a:r>
              <a:rPr lang="pt-BR" b="1" dirty="0">
                <a:solidFill>
                  <a:srgbClr val="51099D"/>
                </a:solidFill>
                <a:latin typeface="Abadi Extra Light" panose="020B0604020202020204" pitchFamily="34" charset="0"/>
              </a:rPr>
              <a:t>Abaixo temos um gráfico especificando as principais causas das perdas de produtos no setor varejista:</a:t>
            </a:r>
          </a:p>
          <a:p>
            <a:pPr algn="l"/>
            <a:endParaRPr lang="pt-BR" b="1" dirty="0">
              <a:solidFill>
                <a:srgbClr val="51099D"/>
              </a:solidFill>
              <a:latin typeface="Abadi Extra Light" panose="020B0604020202020204" pitchFamily="34" charset="0"/>
            </a:endParaRPr>
          </a:p>
        </p:txBody>
      </p:sp>
      <p:pic>
        <p:nvPicPr>
          <p:cNvPr id="10" name="Imagem 9" descr="Gráfico, Gráfico de cascata&#10;&#10;Descrição gerada automaticamente">
            <a:extLst>
              <a:ext uri="{FF2B5EF4-FFF2-40B4-BE49-F238E27FC236}">
                <a16:creationId xmlns:a16="http://schemas.microsoft.com/office/drawing/2014/main" id="{E1191551-26F1-4ED9-BE05-BDE3B94D22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596" y="1668870"/>
            <a:ext cx="7004808" cy="411446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CF84D97-E3B1-4021-851D-F4B3872572F0}"/>
              </a:ext>
            </a:extLst>
          </p:cNvPr>
          <p:cNvSpPr txBox="1"/>
          <p:nvPr/>
        </p:nvSpPr>
        <p:spPr>
          <a:xfrm>
            <a:off x="3662388" y="5967887"/>
            <a:ext cx="5011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rgbClr val="51099D"/>
                </a:solidFill>
                <a:latin typeface="MOON GET!" panose="02000903000000000000" pitchFamily="50" charset="0"/>
                <a:ea typeface="+mj-ea"/>
                <a:cs typeface="+mj-cs"/>
              </a:rPr>
              <a:t>Pesquisa ABRAPPE de Perdas no Varejo Brasileiro: Resultados 2019</a:t>
            </a:r>
          </a:p>
        </p:txBody>
      </p:sp>
    </p:spTree>
    <p:extLst>
      <p:ext uri="{BB962C8B-B14F-4D97-AF65-F5344CB8AC3E}">
        <p14:creationId xmlns:p14="http://schemas.microsoft.com/office/powerpoint/2010/main" val="2141951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ntendo Forma&#10;&#10;Descrição gerada automaticamente">
            <a:extLst>
              <a:ext uri="{FF2B5EF4-FFF2-40B4-BE49-F238E27FC236}">
                <a16:creationId xmlns:a16="http://schemas.microsoft.com/office/drawing/2014/main" id="{B8BD79FA-89E6-4A33-80FB-ADC478B72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82D7658-C0CB-4419-8B67-A2ECDF9C8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956" y="253069"/>
            <a:ext cx="9144000" cy="605769"/>
          </a:xfrm>
        </p:spPr>
        <p:txBody>
          <a:bodyPr>
            <a:normAutofit/>
          </a:bodyPr>
          <a:lstStyle/>
          <a:p>
            <a:pPr algn="l"/>
            <a:r>
              <a:rPr lang="pt-BR" sz="2800" dirty="0">
                <a:solidFill>
                  <a:srgbClr val="51099D"/>
                </a:solidFill>
                <a:latin typeface="MOON GET!" panose="02000903000000000000" pitchFamily="50" charset="0"/>
              </a:rPr>
              <a:t>CONTEXTO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5A4EF9-3D67-49BD-B3C4-4F853CB370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954" y="858838"/>
            <a:ext cx="10742743" cy="4759434"/>
          </a:xfrm>
        </p:spPr>
        <p:txBody>
          <a:bodyPr/>
          <a:lstStyle/>
          <a:p>
            <a:pPr algn="l"/>
            <a:r>
              <a:rPr lang="pt-BR" b="1" dirty="0">
                <a:solidFill>
                  <a:srgbClr val="51099D"/>
                </a:solidFill>
                <a:latin typeface="Abadi Extra Light" panose="020B0604020202020204" pitchFamily="34" charset="0"/>
              </a:rPr>
              <a:t>  Por fim, temos abaixo o gráfico mostrando as quebras operacionais:</a:t>
            </a:r>
          </a:p>
          <a:p>
            <a:pPr algn="l"/>
            <a:endParaRPr lang="pt-BR" b="1" dirty="0">
              <a:solidFill>
                <a:srgbClr val="51099D"/>
              </a:solidFill>
              <a:latin typeface="Abadi Extra Light" panose="020B0604020202020204" pitchFamily="34" charset="0"/>
            </a:endParaRPr>
          </a:p>
        </p:txBody>
      </p:sp>
      <p:pic>
        <p:nvPicPr>
          <p:cNvPr id="8" name="Imagem 7" descr="Gráfico, Gráfico de cascata&#10;&#10;Descrição gerada automaticamente">
            <a:extLst>
              <a:ext uri="{FF2B5EF4-FFF2-40B4-BE49-F238E27FC236}">
                <a16:creationId xmlns:a16="http://schemas.microsoft.com/office/drawing/2014/main" id="{2FD6A137-EA2B-4004-BB16-AC0F04B468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2607" y="1460849"/>
            <a:ext cx="6776551" cy="438809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B81F036-A28A-4A1C-9FD6-C21E036C3DF5}"/>
              </a:ext>
            </a:extLst>
          </p:cNvPr>
          <p:cNvSpPr txBox="1"/>
          <p:nvPr/>
        </p:nvSpPr>
        <p:spPr>
          <a:xfrm>
            <a:off x="3590086" y="5953890"/>
            <a:ext cx="5011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rgbClr val="51099D"/>
                </a:solidFill>
                <a:latin typeface="MOON GET!" panose="02000903000000000000" pitchFamily="50" charset="0"/>
                <a:ea typeface="+mj-ea"/>
                <a:cs typeface="+mj-cs"/>
              </a:rPr>
              <a:t>Pesquisa ABRAPPE de Perdas no Varejo Brasileiro: Resultados 2019</a:t>
            </a:r>
          </a:p>
        </p:txBody>
      </p:sp>
    </p:spTree>
    <p:extLst>
      <p:ext uri="{BB962C8B-B14F-4D97-AF65-F5344CB8AC3E}">
        <p14:creationId xmlns:p14="http://schemas.microsoft.com/office/powerpoint/2010/main" val="1561266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ntendo Forma&#10;&#10;Descrição gerada automaticamente">
            <a:extLst>
              <a:ext uri="{FF2B5EF4-FFF2-40B4-BE49-F238E27FC236}">
                <a16:creationId xmlns:a16="http://schemas.microsoft.com/office/drawing/2014/main" id="{B8BD79FA-89E6-4A33-80FB-ADC478B72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82D7658-C0CB-4419-8B67-A2ECDF9C8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7245" y="1322661"/>
            <a:ext cx="9144000" cy="2387600"/>
          </a:xfrm>
        </p:spPr>
        <p:txBody>
          <a:bodyPr>
            <a:normAutofit/>
          </a:bodyPr>
          <a:lstStyle/>
          <a:p>
            <a:r>
              <a:rPr lang="pt-BR" sz="5400" dirty="0">
                <a:solidFill>
                  <a:srgbClr val="51099D"/>
                </a:solidFill>
                <a:latin typeface="MOON GET!" panose="02000903000000000000" pitchFamily="50" charset="0"/>
              </a:rPr>
              <a:t>SOLUÇÃO</a:t>
            </a:r>
          </a:p>
        </p:txBody>
      </p:sp>
      <p:pic>
        <p:nvPicPr>
          <p:cNvPr id="4" name="Imagem 3" descr="Desenho preto e branco&#10;&#10;Descrição gerada automaticamente com confiança baixa">
            <a:extLst>
              <a:ext uri="{FF2B5EF4-FFF2-40B4-BE49-F238E27FC236}">
                <a16:creationId xmlns:a16="http://schemas.microsoft.com/office/drawing/2014/main" id="{8096CB38-1C48-48F3-B41B-4A342C9D87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703" y="2433730"/>
            <a:ext cx="1471986" cy="1471986"/>
          </a:xfrm>
          <a:prstGeom prst="rect">
            <a:avLst/>
          </a:prstGeom>
        </p:spPr>
      </p:pic>
      <p:pic>
        <p:nvPicPr>
          <p:cNvPr id="7" name="Imagem 6" descr="Desenho preto e branco&#10;&#10;Descrição gerada automaticamente com confiança baixa">
            <a:extLst>
              <a:ext uri="{FF2B5EF4-FFF2-40B4-BE49-F238E27FC236}">
                <a16:creationId xmlns:a16="http://schemas.microsoft.com/office/drawing/2014/main" id="{559BDE79-6B95-48B5-A6A3-0B30C05341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755" y="2433730"/>
            <a:ext cx="1471986" cy="147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305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2D7658-C0CB-4419-8B67-A2ECDF9C8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956" y="253069"/>
            <a:ext cx="9144000" cy="605769"/>
          </a:xfrm>
        </p:spPr>
        <p:txBody>
          <a:bodyPr>
            <a:normAutofit/>
          </a:bodyPr>
          <a:lstStyle/>
          <a:p>
            <a:pPr algn="l"/>
            <a:r>
              <a:rPr lang="pt-BR" sz="2800" dirty="0">
                <a:solidFill>
                  <a:srgbClr val="51099D"/>
                </a:solidFill>
                <a:latin typeface="MOON GET!" panose="02000903000000000000" pitchFamily="50" charset="0"/>
              </a:rPr>
              <a:t>SOLUÇÃO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5A4EF9-3D67-49BD-B3C4-4F853CB370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956" y="1015599"/>
            <a:ext cx="11217779" cy="2318151"/>
          </a:xfrm>
        </p:spPr>
        <p:txBody>
          <a:bodyPr>
            <a:normAutofit/>
          </a:bodyPr>
          <a:lstStyle/>
          <a:p>
            <a:pPr algn="just"/>
            <a:r>
              <a:rPr lang="pt-BR" b="1" dirty="0">
                <a:solidFill>
                  <a:srgbClr val="51099D"/>
                </a:solidFill>
                <a:latin typeface="Abadi Extra Light" panose="020B0604020202020204" pitchFamily="34" charset="0"/>
              </a:rPr>
              <a:t> Iremos programar um sensor com Arduino que será colocado nos Freezers das empresas com o objetivo de medir a temperatura em tempo real.</a:t>
            </a:r>
          </a:p>
          <a:p>
            <a:pPr algn="just"/>
            <a:r>
              <a:rPr lang="pt-BR" b="1" dirty="0">
                <a:solidFill>
                  <a:srgbClr val="51099D"/>
                </a:solidFill>
                <a:latin typeface="Abadi Extra Light" panose="020B0604020202020204" pitchFamily="34" charset="0"/>
              </a:rPr>
              <a:t> Ao medir a temperatura, o sensor irá notificar ao cliente se o freezer está ou não dentro da temperatura adequada, assim diminuindo o prejuízo e garantindo uma boa qualidade da carne.</a:t>
            </a:r>
          </a:p>
          <a:p>
            <a:pPr algn="just"/>
            <a:r>
              <a:rPr lang="pt-BR" b="1" dirty="0">
                <a:solidFill>
                  <a:srgbClr val="51099D"/>
                </a:solidFill>
                <a:latin typeface="Abadi Extra Light" panose="020B0604020202020204" pitchFamily="34" charset="0"/>
              </a:rPr>
              <a:t> </a:t>
            </a:r>
          </a:p>
          <a:p>
            <a:pPr algn="just"/>
            <a:endParaRPr lang="pt-BR" sz="2400" b="1" dirty="0">
              <a:solidFill>
                <a:srgbClr val="51099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b="1" dirty="0">
              <a:solidFill>
                <a:srgbClr val="51099D"/>
              </a:solidFill>
              <a:latin typeface="Abadi Extra Light" panose="020B0604020202020204" pitchFamily="34" charset="0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27C623A-BF81-494B-AFFC-D444DCE232BE}"/>
              </a:ext>
            </a:extLst>
          </p:cNvPr>
          <p:cNvSpPr txBox="1">
            <a:spLocks/>
          </p:cNvSpPr>
          <p:nvPr/>
        </p:nvSpPr>
        <p:spPr>
          <a:xfrm>
            <a:off x="395956" y="3333750"/>
            <a:ext cx="11217779" cy="3413526"/>
          </a:xfrm>
          <a:prstGeom prst="rect">
            <a:avLst/>
          </a:prstGeom>
        </p:spPr>
        <p:txBody>
          <a:bodyPr vert="horz" lIns="91440" tIns="45720" rIns="91440" bIns="45720" numCol="2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000" b="1" dirty="0">
                <a:solidFill>
                  <a:srgbClr val="51099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REQUISITOS: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51099D"/>
                </a:solidFill>
                <a:latin typeface="Abadi Extra Light" panose="020B0604020202020204" pitchFamily="34" charset="0"/>
              </a:rPr>
              <a:t>Estabelecimento (prédio, luz, água);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51099D"/>
                </a:solidFill>
                <a:latin typeface="Abadi Extra Light" panose="020B0604020202020204" pitchFamily="34" charset="0"/>
              </a:rPr>
              <a:t>Computadores;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51099D"/>
                </a:solidFill>
                <a:latin typeface="Abadi Extra Light" panose="020B0604020202020204" pitchFamily="34" charset="0"/>
              </a:rPr>
              <a:t>Servidores para armazenamento e recuperação de dados;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51099D"/>
                </a:solidFill>
                <a:latin typeface="Abadi Extra Light" panose="020B0604020202020204" pitchFamily="34" charset="0"/>
              </a:rPr>
              <a:t>Cabeamento adequado;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51099D"/>
                </a:solidFill>
                <a:latin typeface="Abadi Extra Light" panose="020B0604020202020204" pitchFamily="34" charset="0"/>
              </a:rPr>
              <a:t>Telefone;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b="1" dirty="0">
              <a:solidFill>
                <a:srgbClr val="51099D"/>
              </a:solidFill>
              <a:latin typeface="Abadi Extra Light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b="1" dirty="0">
              <a:solidFill>
                <a:srgbClr val="51099D"/>
              </a:solidFill>
              <a:latin typeface="Abadi Extra Light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b="1" dirty="0">
              <a:solidFill>
                <a:srgbClr val="51099D"/>
              </a:solidFill>
              <a:latin typeface="Abadi Extra Light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51099D"/>
                </a:solidFill>
                <a:latin typeface="Abadi Extra Light" panose="020B0604020202020204" pitchFamily="34" charset="0"/>
              </a:rPr>
              <a:t>Internet Wi-Fi;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51099D"/>
                </a:solidFill>
                <a:latin typeface="Abadi Extra Light" panose="020B0604020202020204" pitchFamily="34" charset="0"/>
              </a:rPr>
              <a:t>Celulares com internet 3/4G, para uso durante a visita ao cliente;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51099D"/>
                </a:solidFill>
                <a:latin typeface="Abadi Extra Light" panose="020B0604020202020204" pitchFamily="34" charset="0"/>
              </a:rPr>
              <a:t>Uma equipe estruturada e especializada no controle de banco de dados e interfaceamento, garantindo as informações demandadas pelo cliente;</a:t>
            </a:r>
          </a:p>
          <a:p>
            <a:pPr algn="just"/>
            <a:endParaRPr lang="pt-BR" b="1" dirty="0">
              <a:solidFill>
                <a:srgbClr val="51099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b="1" dirty="0">
              <a:solidFill>
                <a:srgbClr val="51099D"/>
              </a:solidFill>
              <a:latin typeface="Abadi Extra Light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437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ntendo Forma&#10;&#10;Descrição gerada automaticamente">
            <a:extLst>
              <a:ext uri="{FF2B5EF4-FFF2-40B4-BE49-F238E27FC236}">
                <a16:creationId xmlns:a16="http://schemas.microsoft.com/office/drawing/2014/main" id="{B8BD79FA-89E6-4A33-80FB-ADC478B72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82D7658-C0CB-4419-8B67-A2ECDF9C8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38201"/>
            <a:ext cx="9144000" cy="2387600"/>
          </a:xfrm>
        </p:spPr>
        <p:txBody>
          <a:bodyPr>
            <a:normAutofit/>
          </a:bodyPr>
          <a:lstStyle/>
          <a:p>
            <a:r>
              <a:rPr lang="pt-BR" sz="4000" dirty="0">
                <a:solidFill>
                  <a:srgbClr val="51099D"/>
                </a:solidFill>
                <a:latin typeface="MOON GET!" panose="02000903000000000000" pitchFamily="50" charset="0"/>
              </a:rPr>
              <a:t>DESENHO DE SOLUÇÃO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102E03B-9AAB-44E7-B360-592965D6CF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662" y="2330749"/>
            <a:ext cx="6162675" cy="346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911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ntendo Forma&#10;&#10;Descrição gerada automaticamente">
            <a:extLst>
              <a:ext uri="{FF2B5EF4-FFF2-40B4-BE49-F238E27FC236}">
                <a16:creationId xmlns:a16="http://schemas.microsoft.com/office/drawing/2014/main" id="{B8BD79FA-89E6-4A33-80FB-ADC478B72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82D7658-C0CB-4419-8B67-A2ECDF9C8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956" y="253069"/>
            <a:ext cx="9144000" cy="605769"/>
          </a:xfrm>
        </p:spPr>
        <p:txBody>
          <a:bodyPr>
            <a:normAutofit/>
          </a:bodyPr>
          <a:lstStyle/>
          <a:p>
            <a:pPr algn="l"/>
            <a:r>
              <a:rPr lang="pt-BR" sz="2800" dirty="0">
                <a:solidFill>
                  <a:srgbClr val="51099D"/>
                </a:solidFill>
                <a:latin typeface="MOON GET!" panose="02000903000000000000" pitchFamily="50" charset="0"/>
              </a:rPr>
              <a:t>DESENHO DE SOLUÇÃO</a:t>
            </a:r>
          </a:p>
        </p:txBody>
      </p:sp>
      <p:pic>
        <p:nvPicPr>
          <p:cNvPr id="8" name="Imagem 7" descr="Uma imagem contendo Ícone&#10;&#10;Descrição gerada automaticamente">
            <a:extLst>
              <a:ext uri="{FF2B5EF4-FFF2-40B4-BE49-F238E27FC236}">
                <a16:creationId xmlns:a16="http://schemas.microsoft.com/office/drawing/2014/main" id="{5E9219C0-D0E1-4834-9DF4-0C0511A06D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3029"/>
            <a:ext cx="3782980" cy="3782980"/>
          </a:xfrm>
          <a:prstGeom prst="rect">
            <a:avLst/>
          </a:prstGeom>
        </p:spPr>
      </p:pic>
      <p:pic>
        <p:nvPicPr>
          <p:cNvPr id="10" name="Imagem 9" descr="Interface gráfica do usuário&#10;&#10;Descrição gerada automaticamente com confiança média">
            <a:extLst>
              <a:ext uri="{FF2B5EF4-FFF2-40B4-BE49-F238E27FC236}">
                <a16:creationId xmlns:a16="http://schemas.microsoft.com/office/drawing/2014/main" id="{A03294E4-229E-4FC3-99DD-BCF443B934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5" y="2937278"/>
            <a:ext cx="3782980" cy="3782980"/>
          </a:xfrm>
          <a:prstGeom prst="rect">
            <a:avLst/>
          </a:prstGeom>
        </p:spPr>
      </p:pic>
      <p:pic>
        <p:nvPicPr>
          <p:cNvPr id="12" name="Imagem 11" descr="Interface gráfica do usuário&#10;&#10;Descrição gerada automaticamente com confiança baixa">
            <a:extLst>
              <a:ext uri="{FF2B5EF4-FFF2-40B4-BE49-F238E27FC236}">
                <a16:creationId xmlns:a16="http://schemas.microsoft.com/office/drawing/2014/main" id="{BF3A54F5-E060-4B23-9099-BF9D3625A1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861" y="420606"/>
            <a:ext cx="3867823" cy="3867823"/>
          </a:xfrm>
          <a:prstGeom prst="rect">
            <a:avLst/>
          </a:prstGeom>
        </p:spPr>
      </p:pic>
      <p:pic>
        <p:nvPicPr>
          <p:cNvPr id="14" name="Imagem 13" descr="Uma imagem contendo Logotipo&#10;&#10;Descrição gerada automaticamente">
            <a:extLst>
              <a:ext uri="{FF2B5EF4-FFF2-40B4-BE49-F238E27FC236}">
                <a16:creationId xmlns:a16="http://schemas.microsoft.com/office/drawing/2014/main" id="{08B0AB0C-D765-4020-BAEA-33F4FDD286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7704" y="2937278"/>
            <a:ext cx="3867823" cy="3867823"/>
          </a:xfrm>
          <a:prstGeom prst="rect">
            <a:avLst/>
          </a:prstGeom>
        </p:spPr>
      </p:pic>
      <p:pic>
        <p:nvPicPr>
          <p:cNvPr id="16" name="Imagem 15" descr="Uma imagem contendo Texto&#10;&#10;Descrição gerada automaticamente">
            <a:extLst>
              <a:ext uri="{FF2B5EF4-FFF2-40B4-BE49-F238E27FC236}">
                <a16:creationId xmlns:a16="http://schemas.microsoft.com/office/drawing/2014/main" id="{967E2819-C10E-4AF9-B7EF-46C699E63F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984" y="429424"/>
            <a:ext cx="3867823" cy="3867823"/>
          </a:xfrm>
          <a:prstGeom prst="rect">
            <a:avLst/>
          </a:prstGeom>
        </p:spPr>
      </p:pic>
      <p:pic>
        <p:nvPicPr>
          <p:cNvPr id="18" name="Imagem 17" descr="Fundo preto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2E13CC09-FE13-45C2-8B52-00F29F04BC7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518" y="2954913"/>
            <a:ext cx="3867824" cy="3867824"/>
          </a:xfrm>
          <a:prstGeom prst="rect">
            <a:avLst/>
          </a:prstGeom>
        </p:spPr>
      </p:pic>
      <p:pic>
        <p:nvPicPr>
          <p:cNvPr id="20" name="Imagem 19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2E99EBF4-F99F-47FC-A3A6-6CDF4D724D1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702" y="1367370"/>
            <a:ext cx="4736868" cy="4736868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EB87E730-4224-4815-BB3D-8A008B96881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60" y="3019697"/>
            <a:ext cx="1939860" cy="1091171"/>
          </a:xfrm>
          <a:prstGeom prst="rect">
            <a:avLst/>
          </a:prstGeom>
        </p:spPr>
      </p:pic>
      <p:pic>
        <p:nvPicPr>
          <p:cNvPr id="23" name="Imagem 22" descr="Ícone&#10;&#10;Descrição gerada automaticamente">
            <a:extLst>
              <a:ext uri="{FF2B5EF4-FFF2-40B4-BE49-F238E27FC236}">
                <a16:creationId xmlns:a16="http://schemas.microsoft.com/office/drawing/2014/main" id="{5E7A0C60-5F5F-4874-B2C8-DB428F60A64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885661">
            <a:off x="2229855" y="3029639"/>
            <a:ext cx="1939860" cy="1091171"/>
          </a:xfrm>
          <a:prstGeom prst="rect">
            <a:avLst/>
          </a:prstGeom>
        </p:spPr>
      </p:pic>
      <p:pic>
        <p:nvPicPr>
          <p:cNvPr id="24" name="Imagem 23" descr="Ícone&#10;&#10;Descrição gerada automaticamente">
            <a:extLst>
              <a:ext uri="{FF2B5EF4-FFF2-40B4-BE49-F238E27FC236}">
                <a16:creationId xmlns:a16="http://schemas.microsoft.com/office/drawing/2014/main" id="{0D344E1A-1A5C-4AB5-8ED9-DEAEF012443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3194" y="3029638"/>
            <a:ext cx="1939860" cy="1091171"/>
          </a:xfrm>
          <a:prstGeom prst="rect">
            <a:avLst/>
          </a:prstGeom>
        </p:spPr>
      </p:pic>
      <p:pic>
        <p:nvPicPr>
          <p:cNvPr id="25" name="Imagem 24" descr="Ícone&#10;&#10;Descrição gerada automaticamente">
            <a:extLst>
              <a:ext uri="{FF2B5EF4-FFF2-40B4-BE49-F238E27FC236}">
                <a16:creationId xmlns:a16="http://schemas.microsoft.com/office/drawing/2014/main" id="{8700CBA9-A73F-479C-9CC1-0BACD67EE75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885661">
            <a:off x="5124799" y="3019696"/>
            <a:ext cx="1939860" cy="1091171"/>
          </a:xfrm>
          <a:prstGeom prst="rect">
            <a:avLst/>
          </a:prstGeom>
        </p:spPr>
      </p:pic>
      <p:pic>
        <p:nvPicPr>
          <p:cNvPr id="26" name="Imagem 25" descr="Ícone&#10;&#10;Descrição gerada automaticamente">
            <a:extLst>
              <a:ext uri="{FF2B5EF4-FFF2-40B4-BE49-F238E27FC236}">
                <a16:creationId xmlns:a16="http://schemas.microsoft.com/office/drawing/2014/main" id="{F21E3C79-A5C2-4AD3-B05A-C80C520B5A6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227359" y="4029743"/>
            <a:ext cx="1939860" cy="1091171"/>
          </a:xfrm>
          <a:prstGeom prst="rect">
            <a:avLst/>
          </a:prstGeom>
        </p:spPr>
      </p:pic>
      <p:pic>
        <p:nvPicPr>
          <p:cNvPr id="27" name="Imagem 26" descr="Ícone&#10;&#10;Descrição gerada automaticamente">
            <a:extLst>
              <a:ext uri="{FF2B5EF4-FFF2-40B4-BE49-F238E27FC236}">
                <a16:creationId xmlns:a16="http://schemas.microsoft.com/office/drawing/2014/main" id="{DDC48C39-5E76-45FE-B130-EF0F741994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69834">
            <a:off x="7744916" y="3700423"/>
            <a:ext cx="1939860" cy="1091171"/>
          </a:xfrm>
          <a:prstGeom prst="rect">
            <a:avLst/>
          </a:prstGeom>
        </p:spPr>
      </p:pic>
      <p:pic>
        <p:nvPicPr>
          <p:cNvPr id="28" name="Imagem 27" descr="Ícone&#10;&#10;Descrição gerada automaticamente">
            <a:extLst>
              <a:ext uri="{FF2B5EF4-FFF2-40B4-BE49-F238E27FC236}">
                <a16:creationId xmlns:a16="http://schemas.microsoft.com/office/drawing/2014/main" id="{9D0F6B5C-FDB1-4F88-B837-5C59A5A2CBD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721203">
            <a:off x="7792065" y="1872303"/>
            <a:ext cx="1939860" cy="10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254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ntendo Forma&#10;&#10;Descrição gerada automaticamente">
            <a:extLst>
              <a:ext uri="{FF2B5EF4-FFF2-40B4-BE49-F238E27FC236}">
                <a16:creationId xmlns:a16="http://schemas.microsoft.com/office/drawing/2014/main" id="{B8BD79FA-89E6-4A33-80FB-ADC478B72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82D7658-C0CB-4419-8B67-A2ECDF9C8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345" y="479571"/>
            <a:ext cx="10526510" cy="605769"/>
          </a:xfrm>
        </p:spPr>
        <p:txBody>
          <a:bodyPr>
            <a:noAutofit/>
          </a:bodyPr>
          <a:lstStyle/>
          <a:p>
            <a:pPr algn="l"/>
            <a:r>
              <a:rPr lang="pt-BR" sz="2400" dirty="0">
                <a:solidFill>
                  <a:srgbClr val="51099D"/>
                </a:solidFill>
                <a:latin typeface="MOON GET!" panose="02000903000000000000" pitchFamily="50" charset="0"/>
              </a:rPr>
              <a:t>MySQL WORKBENCH – TELA DE PERMISSÃO DE USUÁRIO</a:t>
            </a:r>
          </a:p>
        </p:txBody>
      </p:sp>
      <p:pic>
        <p:nvPicPr>
          <p:cNvPr id="5" name="Imagem 4" descr="Interface gráfica do usuário, Texto, Aplicativo, Email&#10;&#10;Descrição gerada automaticamente">
            <a:extLst>
              <a:ext uri="{FF2B5EF4-FFF2-40B4-BE49-F238E27FC236}">
                <a16:creationId xmlns:a16="http://schemas.microsoft.com/office/drawing/2014/main" id="{D7CA284A-17BA-4BAF-B4E0-3BA8FABDA7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32" y="1250469"/>
            <a:ext cx="10138736" cy="499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610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ntendo Forma&#10;&#10;Descrição gerada automaticamente">
            <a:extLst>
              <a:ext uri="{FF2B5EF4-FFF2-40B4-BE49-F238E27FC236}">
                <a16:creationId xmlns:a16="http://schemas.microsoft.com/office/drawing/2014/main" id="{B8BD79FA-89E6-4A33-80FB-ADC478B72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82D7658-C0CB-4419-8B67-A2ECDF9C8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956" y="253069"/>
            <a:ext cx="9144000" cy="605769"/>
          </a:xfrm>
        </p:spPr>
        <p:txBody>
          <a:bodyPr>
            <a:normAutofit/>
          </a:bodyPr>
          <a:lstStyle/>
          <a:p>
            <a:pPr algn="l"/>
            <a:r>
              <a:rPr lang="pt-BR" sz="2800" dirty="0">
                <a:solidFill>
                  <a:srgbClr val="51099D"/>
                </a:solidFill>
                <a:latin typeface="MOON GET!" panose="02000903000000000000" pitchFamily="50" charset="0"/>
              </a:rPr>
              <a:t>ROTEIRO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5A4EF9-3D67-49BD-B3C4-4F853CB370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956" y="1243399"/>
            <a:ext cx="10742743" cy="4759434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pt-BR" b="1" dirty="0">
              <a:solidFill>
                <a:srgbClr val="51099D"/>
              </a:solidFill>
              <a:latin typeface="Abadi Extra Light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51099D"/>
                </a:solidFill>
                <a:latin typeface="Abadi Extra Light" panose="020B0604020202020204" pitchFamily="34" charset="0"/>
              </a:rPr>
              <a:t>Site Institucional ( </a:t>
            </a:r>
            <a:r>
              <a:rPr lang="pt-BR" b="1" dirty="0">
                <a:solidFill>
                  <a:srgbClr val="51099D"/>
                </a:solidFill>
                <a:latin typeface="Abadi Extra Light" panose="020B0604020202020204" pitchFamily="34" charset="0"/>
                <a:hlinkClick r:id="rId3"/>
              </a:rPr>
              <a:t>https://xd.adobe.com/view/87b91974-01bd-4ed8-882a-53417d46ab2b-d2ea/</a:t>
            </a:r>
            <a:r>
              <a:rPr lang="pt-BR" b="1" dirty="0">
                <a:solidFill>
                  <a:srgbClr val="51099D"/>
                </a:solidFill>
                <a:latin typeface="Abadi Extra Light" panose="020B0604020202020204" pitchFamily="34" charset="0"/>
              </a:rPr>
              <a:t> 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51099D"/>
                </a:solidFill>
                <a:latin typeface="Abadi Extra Light" panose="020B0604020202020204" pitchFamily="34" charset="0"/>
              </a:rPr>
              <a:t>Banco de Dados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51099D"/>
                </a:solidFill>
                <a:latin typeface="Abadi Extra Light" panose="020B0604020202020204" pitchFamily="34" charset="0"/>
              </a:rPr>
              <a:t>API Node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51099D"/>
                </a:solidFill>
                <a:latin typeface="Abadi Extra Light" panose="020B0604020202020204" pitchFamily="34" charset="0"/>
              </a:rPr>
              <a:t>GitHub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51099D"/>
                </a:solidFill>
                <a:latin typeface="Abadi Extra Light" panose="020B0604020202020204" pitchFamily="34" charset="0"/>
              </a:rPr>
              <a:t>Simulador Financeiro</a:t>
            </a:r>
          </a:p>
          <a:p>
            <a:pPr lvl="1" algn="l"/>
            <a:endParaRPr lang="pt-BR" b="1" dirty="0">
              <a:solidFill>
                <a:srgbClr val="51099D"/>
              </a:solidFill>
              <a:latin typeface="Abadi Extra Light" panose="020B0604020202020204" pitchFamily="34" charset="0"/>
            </a:endParaRPr>
          </a:p>
          <a:p>
            <a:pPr lvl="1" algn="l"/>
            <a:endParaRPr lang="pt-BR" b="1" dirty="0">
              <a:solidFill>
                <a:srgbClr val="51099D"/>
              </a:solidFill>
              <a:latin typeface="Abadi Extra Light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b="1" dirty="0">
              <a:solidFill>
                <a:srgbClr val="51099D"/>
              </a:solidFill>
              <a:latin typeface="Abadi Extra Light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348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ntendo Forma&#10;&#10;Descrição gerada automaticamente">
            <a:extLst>
              <a:ext uri="{FF2B5EF4-FFF2-40B4-BE49-F238E27FC236}">
                <a16:creationId xmlns:a16="http://schemas.microsoft.com/office/drawing/2014/main" id="{B8BD79FA-89E6-4A33-80FB-ADC478B72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82D7658-C0CB-4419-8B67-A2ECDF9C8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31860"/>
            <a:ext cx="9144000" cy="2387600"/>
          </a:xfrm>
        </p:spPr>
        <p:txBody>
          <a:bodyPr>
            <a:normAutofit/>
          </a:bodyPr>
          <a:lstStyle/>
          <a:p>
            <a:r>
              <a:rPr lang="pt-BR" sz="4000" dirty="0">
                <a:solidFill>
                  <a:srgbClr val="51099D"/>
                </a:solidFill>
                <a:latin typeface="MOON GET!" panose="02000903000000000000" pitchFamily="50" charset="0"/>
              </a:rPr>
              <a:t>FIM DA APRESENTAÇÃO</a:t>
            </a:r>
            <a:br>
              <a:rPr lang="pt-BR" sz="4000" dirty="0">
                <a:solidFill>
                  <a:srgbClr val="51099D"/>
                </a:solidFill>
                <a:latin typeface="MOON GET!" panose="02000903000000000000" pitchFamily="50" charset="0"/>
              </a:rPr>
            </a:br>
            <a:br>
              <a:rPr lang="pt-BR" sz="2800" dirty="0">
                <a:solidFill>
                  <a:srgbClr val="51099D"/>
                </a:solidFill>
                <a:latin typeface="MOON GET!" panose="02000903000000000000" pitchFamily="50" charset="0"/>
              </a:rPr>
            </a:br>
            <a:r>
              <a:rPr lang="pt-BR" sz="2800" dirty="0">
                <a:solidFill>
                  <a:srgbClr val="51099D"/>
                </a:solidFill>
                <a:latin typeface="MOON GET!" panose="02000903000000000000" pitchFamily="50" charset="0"/>
              </a:rPr>
              <a:t>AGRADECEMOS A ATENÇÃO!</a:t>
            </a:r>
          </a:p>
        </p:txBody>
      </p:sp>
    </p:spTree>
    <p:extLst>
      <p:ext uri="{BB962C8B-B14F-4D97-AF65-F5344CB8AC3E}">
        <p14:creationId xmlns:p14="http://schemas.microsoft.com/office/powerpoint/2010/main" val="203183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338</Words>
  <Application>Microsoft Office PowerPoint</Application>
  <PresentationFormat>Widescreen</PresentationFormat>
  <Paragraphs>53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2" baseType="lpstr">
      <vt:lpstr>Abadi Extra Light</vt:lpstr>
      <vt:lpstr>Arial</vt:lpstr>
      <vt:lpstr>Calibri</vt:lpstr>
      <vt:lpstr>Calibri Light</vt:lpstr>
      <vt:lpstr>MOON GET!</vt:lpstr>
      <vt:lpstr>Wingdings</vt:lpstr>
      <vt:lpstr>Tema do Office</vt:lpstr>
      <vt:lpstr>PESQUISA E INOVAÇÃO</vt:lpstr>
      <vt:lpstr>INTEGRANTES</vt:lpstr>
      <vt:lpstr>INTEGRANTES</vt:lpstr>
      <vt:lpstr>CONTEXTO</vt:lpstr>
      <vt:lpstr>CONTEXTO</vt:lpstr>
      <vt:lpstr>CONTEXTO</vt:lpstr>
      <vt:lpstr>CONTEXTO</vt:lpstr>
      <vt:lpstr>CONTEXTO</vt:lpstr>
      <vt:lpstr>SOLUÇÃO</vt:lpstr>
      <vt:lpstr>SOLUÇÃO</vt:lpstr>
      <vt:lpstr>DESENHO DE SOLUÇÃO</vt:lpstr>
      <vt:lpstr>DESENHO DE SOLUÇÃO</vt:lpstr>
      <vt:lpstr>MySQL WORKBENCH – TELA DE PERMISSÃO DE USUÁRIO</vt:lpstr>
      <vt:lpstr>ROTEIRO</vt:lpstr>
      <vt:lpstr>FIM DA APRESENTAÇÃO  AGRADECEMOS A ATENÇÃO!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PESQUISA E INOVAÇÃO</dc:title>
  <dc:creator>RAI JONAS DE OLIVEIRA MACIEL</dc:creator>
  <cp:lastModifiedBy>pedrohnm@uninove.edu.br</cp:lastModifiedBy>
  <cp:revision>54</cp:revision>
  <dcterms:created xsi:type="dcterms:W3CDTF">2021-03-10T02:14:21Z</dcterms:created>
  <dcterms:modified xsi:type="dcterms:W3CDTF">2021-03-11T22:09:31Z</dcterms:modified>
</cp:coreProperties>
</file>